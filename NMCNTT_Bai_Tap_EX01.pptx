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Trang_tính1!$B$1</c:f>
              <c:strCache>
                <c:ptCount val="1"/>
                <c:pt idx="0">
                  <c:v>Bán hàng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6C9-4630-83EB-8EE6400CC0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6C9-4630-83EB-8EE6400CC0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E6C9-4630-83EB-8EE6400CC0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6C9-4630-83EB-8EE6400CC0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Trang_tính1!$A$2:$A$5</c:f>
              <c:strCache>
                <c:ptCount val="4"/>
                <c:pt idx="0">
                  <c:v>Quý 1</c:v>
                </c:pt>
                <c:pt idx="1">
                  <c:v>Quý 2</c:v>
                </c:pt>
                <c:pt idx="2">
                  <c:v>Quý 3</c:v>
                </c:pt>
                <c:pt idx="3">
                  <c:v>Quý 4</c:v>
                </c:pt>
              </c:strCache>
            </c:strRef>
          </c:cat>
          <c:val>
            <c:numRef>
              <c:f>Trang_tính1!$B$2:$B$5</c:f>
              <c:numCache>
                <c:formatCode>0%</c:formatCode>
                <c:ptCount val="4"/>
                <c:pt idx="0">
                  <c:v>0.46</c:v>
                </c:pt>
                <c:pt idx="1">
                  <c:v>0.28000000000000003</c:v>
                </c:pt>
                <c:pt idx="2">
                  <c:v>0.16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9-4630-83EB-8EE6400CC02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B5754-AA52-4072-B0FE-4067F38EA4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09BA-8CA6-4EA5-AADC-201CD63F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1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109BA-8CA6-4EA5-AADC-201CD63FB3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1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3C4F8C3-3A7F-F67B-FD14-1ECDFE112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0350F94-DE43-1CCE-91EE-2A6258AAB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A08154C-0E0A-EEE0-4450-7B09FA00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BFE8A6E-0E1E-1198-E0BA-EAA51D6B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9673C-E174-3439-9B36-6A7F1420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7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957ECF7-C9CD-EEA9-6E13-D35F3537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C0497EE-2EEA-C3F7-6014-EFF1D6C0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DB75F7-D420-ED69-A4AD-8293F4A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90C8D67-639C-EE3B-7296-F71A1DA7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8111C8B-0433-82CF-4B81-0B1C2BFB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9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8E5529-790D-5DBF-F4D6-EF649B407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693F949-EE17-4111-F7B0-C9C86AC54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1503DF7-2110-EE8C-3D52-8447C1D0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F07ABF1-B292-1D28-27EA-675F3286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911696F-0607-8B2F-4EA5-9D2F1A7C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4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FBE238-7A16-DFF1-0124-24589850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ABD3B1C-383D-36A8-858A-B0E50D3E1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8BAFEAB-DB21-D0E5-F845-3F3F24D69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7DA9473-4F5F-0535-4081-8605A548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44859BC-6731-7C6C-0C30-8418C125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AC5A950-A3C6-F439-9CDE-69D52B33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2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6CA7E1D-1A54-EE22-D366-4F0D5CCB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59DAF22-03A7-4C24-9CBB-9C90FC9E7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ACB40FA3-2FDD-3FB0-7B60-1C5A64954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32378471-04AA-8F0B-73B8-EBDE7EBF4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6FCA1601-BE5B-BC53-E7D3-F97D411CD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98862C71-22F6-9D56-0C67-705DF1F4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A520059-C00D-463F-282D-B129D744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F5B6FE0-776D-BABF-F722-1B58F4F4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4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B80215D-5F84-D4CA-B36E-481E7000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76CBE776-A72D-6BE6-F88B-31821F8D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1B9E8138-5AAD-09F6-DA6C-CB9B5517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15E7B581-8792-AB65-3B5A-86C65672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B1F3AB2A-812C-D729-0E0C-9E0A40E1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DA49ADB3-A970-F499-B66C-56ADD508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F923A0A-FCD3-6958-2743-FFC699D0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45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E928E44-B2F7-CAFA-D0CA-E93AD08A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401A12A-F602-F568-B08F-4C6D7679F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27FF8D05-82AD-C69F-68A9-D264EA65F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E3232A8-117E-FB36-361C-86610A91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8C69718-5438-A6CA-B96E-027E3857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2C2745F-574B-0476-4032-EBC9984E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0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00B46A-CD47-93B7-565C-81B2F4B2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05ECC432-6BD3-1070-FAB1-2E42AFAE0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5287B0A-EB26-B3FE-F86D-1DCD1B3CC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6771B2A-0C49-2756-566C-39E94421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F9C6C02-37DE-8525-D764-78665241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CAA4141D-889D-A07C-D8CB-A3A762D0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0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573DE1A-A30A-0441-DD76-F57656FC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ECD508C-1981-E5F2-809D-5AA0ACE7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E6E2E90-8CE7-D84F-57EB-92F221D4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2611335-FE2D-4DF4-0196-C68A5BF9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2132473-07DF-9DA8-22AA-7DB8DA28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5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FBEA0726-E93E-2CF2-862B-71CB5707E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774CDE0-A08E-B4F8-6F3B-9486E16EF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C3B9531-A40B-D909-FE3B-326CA550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9584A2B-3965-0A60-ADFB-1377AA40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623D7D5-BA57-6E25-5909-2F156DA9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472A55B7-D266-C4E6-08DE-1690AE5D1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60AF86-B0E0-9A15-68CD-FAE23C52F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E8437D-2D21-F221-EDC7-988FCDF53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A08DB-159B-420A-9F6F-2E859C35D4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F26DE75-8D57-1C40-05BB-BFC06CA51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EBD9DA6-8FC1-EF0D-46D7-D81836462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CF4B2-E083-4C56-B1E3-7F3BEC43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1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5.wdp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2526F74-6FDA-A0D6-2D68-F2F8516D2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43"/>
            <a:ext cx="12192000" cy="6858000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05D90B81-1B1A-24E2-2914-F137AB311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051" y="645926"/>
            <a:ext cx="2575388" cy="780837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sz="3300" b="1" i="1" spc="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PayKX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i="1" dirty="0">
                <a:latin typeface="Sitka Banner" panose="02000505000000020004" pitchFamily="2" charset="0"/>
                <a:cs typeface="Times New Roman" panose="02020603050405020304" pitchFamily="18" charset="0"/>
              </a:rPr>
              <a:t>VÍ ĐIỆN TỬ CHO SINH VIÊN 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207C196-354A-A655-194E-9B4247E88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821" y="3354103"/>
            <a:ext cx="3479515" cy="415158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5">
                    <a:lumMod val="75000"/>
                  </a:schemeClr>
                </a:solidFill>
                <a:latin typeface="Sitka Banner" panose="02000505000000020004" pitchFamily="2" charset="0"/>
                <a:cs typeface="Times New Roman" panose="02020603050405020304" pitchFamily="18" charset="0"/>
              </a:rPr>
              <a:t>Tháng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Sitka Banner" panose="02000505000000020004" pitchFamily="2" charset="0"/>
                <a:cs typeface="Times New Roman" panose="02020603050405020304" pitchFamily="18" charset="0"/>
              </a:rPr>
              <a:t> 05/2024</a:t>
            </a:r>
          </a:p>
          <a:p>
            <a:endParaRPr lang="en-US" sz="4000" b="1" dirty="0">
              <a:solidFill>
                <a:schemeClr val="accent5">
                  <a:lumMod val="75000"/>
                </a:schemeClr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1FB42CF-BE0E-A250-C346-C9ADC4EE50AA}"/>
              </a:ext>
            </a:extLst>
          </p:cNvPr>
          <p:cNvSpPr txBox="1"/>
          <p:nvPr/>
        </p:nvSpPr>
        <p:spPr>
          <a:xfrm>
            <a:off x="558231" y="574679"/>
            <a:ext cx="667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7086248-A55D-10A0-E914-9D94C77D10F3}"/>
              </a:ext>
            </a:extLst>
          </p:cNvPr>
          <p:cNvSpPr txBox="1"/>
          <p:nvPr/>
        </p:nvSpPr>
        <p:spPr>
          <a:xfrm>
            <a:off x="1065088" y="2280656"/>
            <a:ext cx="5982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3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Banner" panose="02000505000000020004" pitchFamily="2" charset="0"/>
                <a:cs typeface="Times New Roman" panose="02020603050405020304" pitchFamily="18" charset="0"/>
              </a:rPr>
              <a:t>BÁO CÁO LỖ LÃI </a:t>
            </a:r>
          </a:p>
        </p:txBody>
      </p: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FE67B16B-6749-1AFA-4805-C0C97701FEC5}"/>
              </a:ext>
            </a:extLst>
          </p:cNvPr>
          <p:cNvCxnSpPr/>
          <p:nvPr/>
        </p:nvCxnSpPr>
        <p:spPr>
          <a:xfrm>
            <a:off x="1580505" y="4376791"/>
            <a:ext cx="29178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38EBDCB3-53EA-4FA9-9893-691A3B1D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488" y="2280656"/>
            <a:ext cx="3967538" cy="157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2C29D13-FE12-0A7A-9D39-BF3756B92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426" y="574679"/>
            <a:ext cx="3971925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12">
            <a:extLst>
              <a:ext uri="{FF2B5EF4-FFF2-40B4-BE49-F238E27FC236}">
                <a16:creationId xmlns:a16="http://schemas.microsoft.com/office/drawing/2014/main" id="{380560B5-EDAD-EEE1-1ADB-ECF65721D7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427DAC56-9BA5-5849-2A45-ACA409A46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7988" y1="10600" x2="54955" y2="10700"/>
                        <a14:foregroundMark x1="54955" y1="10700" x2="66216" y2="15700"/>
                        <a14:foregroundMark x1="66216" y1="15700" x2="70571" y2="25300"/>
                        <a14:foregroundMark x1="70571" y1="25300" x2="68168" y2="2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382" y="2086982"/>
            <a:ext cx="2612012" cy="392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86C17BF2-03E2-D134-A021-25F83D4E3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892" y="5271079"/>
            <a:ext cx="3967538" cy="157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F7862C94-9269-B734-D135-5874693956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64" b="89855" l="9918" r="93886">
                        <a14:foregroundMark x1="48505" y1="28623" x2="38451" y2="23188"/>
                        <a14:foregroundMark x1="38451" y1="23188" x2="47418" y2="20290"/>
                        <a14:foregroundMark x1="47418" y1="20290" x2="43886" y2="9601"/>
                        <a14:foregroundMark x1="43886" y1="9601" x2="62228" y2="2899"/>
                        <a14:foregroundMark x1="62228" y1="2899" x2="63451" y2="10688"/>
                        <a14:foregroundMark x1="63451" y1="10688" x2="69837" y2="17029"/>
                        <a14:foregroundMark x1="69837" y1="17029" x2="65897" y2="26268"/>
                        <a14:foregroundMark x1="65897" y1="26268" x2="71060" y2="31522"/>
                        <a14:foregroundMark x1="71060" y1="31522" x2="81658" y2="16848"/>
                        <a14:foregroundMark x1="81658" y1="16848" x2="75815" y2="13587"/>
                        <a14:foregroundMark x1="75815" y1="13587" x2="86005" y2="10870"/>
                        <a14:foregroundMark x1="86005" y1="10870" x2="93886" y2="21558"/>
                        <a14:foregroundMark x1="93886" y1="21558" x2="78261" y2="40036"/>
                        <a14:foregroundMark x1="78261" y1="40036" x2="83016" y2="550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954" y="4241334"/>
            <a:ext cx="3387423" cy="2540568"/>
          </a:xfrm>
          <a:prstGeom prst="rect">
            <a:avLst/>
          </a:prstGeom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8400FEC-684A-22E2-A3A4-0C94049646A9}"/>
              </a:ext>
            </a:extLst>
          </p:cNvPr>
          <p:cNvSpPr txBox="1"/>
          <p:nvPr/>
        </p:nvSpPr>
        <p:spPr>
          <a:xfrm>
            <a:off x="8637414" y="1880546"/>
            <a:ext cx="151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PAY KX</a:t>
            </a: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C7EEEF87-3EDF-9542-5CB0-2D5D9EBE8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83" b="89946" l="4755" r="91440">
                        <a14:foregroundMark x1="10598" y1="35870" x2="5163" y2="43071"/>
                        <a14:foregroundMark x1="5163" y1="43071" x2="4891" y2="61277"/>
                        <a14:foregroundMark x1="4891" y1="61277" x2="10326" y2="65761"/>
                        <a14:foregroundMark x1="88995" y1="38587" x2="91440" y2="47826"/>
                        <a14:foregroundMark x1="91440" y1="47826" x2="89674" y2="528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461" y="4174962"/>
            <a:ext cx="2549229" cy="254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98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D790732E-1F8A-6E2C-726F-CBEDA4D77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72300"/>
          </a:xfr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AD049328-7EE4-1CEB-83C6-7CFCD452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505575" cy="1325563"/>
          </a:xfrm>
        </p:spPr>
        <p:txBody>
          <a:bodyPr/>
          <a:lstStyle/>
          <a:p>
            <a:r>
              <a:rPr 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TỔNG QUAN KẾT QUẢ </a:t>
            </a:r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70FD3CC2-D382-254D-8484-652B20B00CB5}"/>
              </a:ext>
            </a:extLst>
          </p:cNvPr>
          <p:cNvSpPr/>
          <p:nvPr/>
        </p:nvSpPr>
        <p:spPr>
          <a:xfrm>
            <a:off x="683419" y="1690686"/>
            <a:ext cx="2352675" cy="44338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BEB01709-ED08-A24E-E249-275BC2931956}"/>
              </a:ext>
            </a:extLst>
          </p:cNvPr>
          <p:cNvSpPr/>
          <p:nvPr/>
        </p:nvSpPr>
        <p:spPr>
          <a:xfrm>
            <a:off x="3459956" y="1690686"/>
            <a:ext cx="2352675" cy="44338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C6FD48FD-B470-8B52-C0E6-10D90B526C53}"/>
              </a:ext>
            </a:extLst>
          </p:cNvPr>
          <p:cNvSpPr/>
          <p:nvPr/>
        </p:nvSpPr>
        <p:spPr>
          <a:xfrm>
            <a:off x="6236493" y="1690686"/>
            <a:ext cx="2352675" cy="44338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2910458D-28A8-3F73-27F4-701727504DE7}"/>
              </a:ext>
            </a:extLst>
          </p:cNvPr>
          <p:cNvSpPr/>
          <p:nvPr/>
        </p:nvSpPr>
        <p:spPr>
          <a:xfrm>
            <a:off x="9118618" y="1690686"/>
            <a:ext cx="2352675" cy="44338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EF9DC2EF-0EAE-A116-1457-FDB7FACC0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744" y="2236396"/>
            <a:ext cx="1352587" cy="1192604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7B658FB4-0FF0-73F0-F1A3-C06FD562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860" y="2208876"/>
            <a:ext cx="1708865" cy="1132503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1F4C53FE-041D-95B7-9C7F-8F16D2DCA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905" y="1972202"/>
            <a:ext cx="1605849" cy="1605849"/>
          </a:xfrm>
          <a:prstGeom prst="rect">
            <a:avLst/>
          </a:prstGeom>
        </p:spPr>
      </p:pic>
      <p:pic>
        <p:nvPicPr>
          <p:cNvPr id="15" name="Hình ảnh 14">
            <a:extLst>
              <a:ext uri="{FF2B5EF4-FFF2-40B4-BE49-F238E27FC236}">
                <a16:creationId xmlns:a16="http://schemas.microsoft.com/office/drawing/2014/main" id="{EA195992-9630-6A89-01A0-87EA08C88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429" y="2277605"/>
            <a:ext cx="1595660" cy="1063774"/>
          </a:xfrm>
          <a:prstGeom prst="rect">
            <a:avLst/>
          </a:prstGeom>
        </p:spPr>
      </p:pic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927BC8C1-C95F-2E52-F3FB-75A84E386387}"/>
              </a:ext>
            </a:extLst>
          </p:cNvPr>
          <p:cNvSpPr txBox="1"/>
          <p:nvPr/>
        </p:nvSpPr>
        <p:spPr>
          <a:xfrm>
            <a:off x="950216" y="3678747"/>
            <a:ext cx="18220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Doanh Thu Thuấn </a:t>
            </a:r>
            <a:endParaRPr lang="en-US" sz="25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12,45</a:t>
            </a:r>
          </a:p>
          <a:p>
            <a:pPr algn="ctr"/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VND</a:t>
            </a: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44F75CA6-1D23-5EA8-A0B3-2364115E06C9}"/>
              </a:ext>
            </a:extLst>
          </p:cNvPr>
          <p:cNvSpPr txBox="1"/>
          <p:nvPr/>
        </p:nvSpPr>
        <p:spPr>
          <a:xfrm>
            <a:off x="3830354" y="3689620"/>
            <a:ext cx="15739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5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Tổng Chi Phí </a:t>
            </a:r>
            <a:endParaRPr lang="en-US" sz="25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7,28</a:t>
            </a:r>
          </a:p>
          <a:p>
            <a:pPr algn="ctr"/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VND</a:t>
            </a: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3FFC7683-B69E-FE89-002B-A6257CAA4D5F}"/>
              </a:ext>
            </a:extLst>
          </p:cNvPr>
          <p:cNvSpPr txBox="1"/>
          <p:nvPr/>
        </p:nvSpPr>
        <p:spPr>
          <a:xfrm>
            <a:off x="6439284" y="3690818"/>
            <a:ext cx="18855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err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Lợi</a:t>
            </a:r>
            <a:r>
              <a:rPr lang="en-US" sz="25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Nhuận</a:t>
            </a:r>
            <a:r>
              <a:rPr lang="en-US" sz="25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Gộp</a:t>
            </a:r>
            <a:endParaRPr lang="en-US" sz="2500" b="1" dirty="0">
              <a:solidFill>
                <a:srgbClr val="7030A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5,17</a:t>
            </a:r>
          </a:p>
          <a:p>
            <a:pPr algn="ctr"/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Tỷ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VND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8A3AB214-AD68-4CCD-1F4D-A98DDC9E41A9}"/>
              </a:ext>
            </a:extLst>
          </p:cNvPr>
          <p:cNvSpPr txBox="1"/>
          <p:nvPr/>
        </p:nvSpPr>
        <p:spPr>
          <a:xfrm>
            <a:off x="9408322" y="3678747"/>
            <a:ext cx="1779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5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Nhuận</a:t>
            </a:r>
            <a:r>
              <a:rPr lang="en-US" sz="25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Sau </a:t>
            </a:r>
            <a:r>
              <a:rPr lang="en-US" sz="25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endParaRPr lang="en-US" sz="25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2,89</a:t>
            </a:r>
          </a:p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VND</a:t>
            </a: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C7F326D0-011D-EF71-1FEE-545DC32A25C9}"/>
              </a:ext>
            </a:extLst>
          </p:cNvPr>
          <p:cNvSpPr txBox="1"/>
          <p:nvPr/>
        </p:nvSpPr>
        <p:spPr>
          <a:xfrm>
            <a:off x="1008076" y="5362102"/>
            <a:ext cx="1764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+18,6%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T4/2024</a:t>
            </a: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A6A29F0D-35C0-7C17-A741-D6A1CDB44423}"/>
              </a:ext>
            </a:extLst>
          </p:cNvPr>
          <p:cNvSpPr txBox="1"/>
          <p:nvPr/>
        </p:nvSpPr>
        <p:spPr>
          <a:xfrm>
            <a:off x="3719513" y="5383872"/>
            <a:ext cx="1764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+12,1%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T4/2024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5F335C5-A031-96DC-578A-B68650E5A3E1}"/>
              </a:ext>
            </a:extLst>
          </p:cNvPr>
          <p:cNvSpPr txBox="1"/>
          <p:nvPr/>
        </p:nvSpPr>
        <p:spPr>
          <a:xfrm>
            <a:off x="6499987" y="5353049"/>
            <a:ext cx="1764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+27,4%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T4/2024</a:t>
            </a:r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AE0CB918-3ED0-6863-4DB8-60BCFEDEDC1C}"/>
              </a:ext>
            </a:extLst>
          </p:cNvPr>
          <p:cNvSpPr txBox="1"/>
          <p:nvPr/>
        </p:nvSpPr>
        <p:spPr>
          <a:xfrm>
            <a:off x="9412877" y="5353048"/>
            <a:ext cx="1764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+31,2%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T4/2024</a:t>
            </a:r>
          </a:p>
        </p:txBody>
      </p:sp>
    </p:spTree>
    <p:extLst>
      <p:ext uri="{BB962C8B-B14F-4D97-AF65-F5344CB8AC3E}">
        <p14:creationId xmlns:p14="http://schemas.microsoft.com/office/powerpoint/2010/main" val="1220696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3FD29D8D-2C47-C30C-BD89-4F961FA3C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D52E31BF-7A12-60C7-BBE1-67C2B7BC1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543"/>
            <a:ext cx="6394807" cy="1365146"/>
          </a:xfrm>
        </p:spPr>
        <p:txBody>
          <a:bodyPr>
            <a:normAutofit/>
          </a:bodyPr>
          <a:lstStyle/>
          <a:p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Thu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Thuần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VND)</a:t>
            </a:r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04C24287-B233-A516-3922-1C6F8E057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350267" cy="4841770"/>
          </a:xfrm>
          <a:prstGeom prst="rect">
            <a:avLst/>
          </a:prstGeom>
        </p:spPr>
      </p:pic>
      <p:graphicFrame>
        <p:nvGraphicFramePr>
          <p:cNvPr id="19" name="Biểu đồ 18">
            <a:extLst>
              <a:ext uri="{FF2B5EF4-FFF2-40B4-BE49-F238E27FC236}">
                <a16:creationId xmlns:a16="http://schemas.microsoft.com/office/drawing/2014/main" id="{F99E8FB1-026C-87A9-E1A0-CA70F42D41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3991675"/>
              </p:ext>
            </p:extLst>
          </p:nvPr>
        </p:nvGraphicFramePr>
        <p:xfrm>
          <a:off x="5897367" y="1690687"/>
          <a:ext cx="6101708" cy="4638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D5FB8D0C-FA04-9D00-522B-B9A98E1CF961}"/>
              </a:ext>
            </a:extLst>
          </p:cNvPr>
          <p:cNvSpPr txBox="1"/>
          <p:nvPr/>
        </p:nvSpPr>
        <p:spPr>
          <a:xfrm>
            <a:off x="6902521" y="731117"/>
            <a:ext cx="44512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(T5/2024)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99070135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85</Words>
  <Application>Microsoft Office PowerPoint</Application>
  <PresentationFormat>Màn hình rộng</PresentationFormat>
  <Paragraphs>29</Paragraphs>
  <Slides>3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Sitka Banner</vt:lpstr>
      <vt:lpstr>Times New Roman</vt:lpstr>
      <vt:lpstr>Chủ đề Office</vt:lpstr>
      <vt:lpstr>PayKX VÍ ĐIỆN TỬ CHO SINH VIÊN </vt:lpstr>
      <vt:lpstr>TỔNG QUAN KẾT QUẢ </vt:lpstr>
      <vt:lpstr>Doanh Thu Thuần (Tỷ VND)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VÍ ĐIỆN TỬ CHO SINH VIÊN </dc:title>
  <dc:creator>Nhi Hoàng</dc:creator>
  <cp:lastModifiedBy>Nhi Hoàng</cp:lastModifiedBy>
  <cp:revision>2</cp:revision>
  <dcterms:created xsi:type="dcterms:W3CDTF">2026-10-26T03:55:46Z</dcterms:created>
  <dcterms:modified xsi:type="dcterms:W3CDTF">2026-10-26T13:50:19Z</dcterms:modified>
</cp:coreProperties>
</file>